
<file path=[Content_Types].xml><?xml version="1.0" encoding="utf-8"?>
<Types xmlns="http://schemas.openxmlformats.org/package/2006/content-types">
  <Default Extension="jpeg" ContentType="image/jpeg"/>
  <Default Extension="org&amp;utm_campaign=index&amp;utm_content=origina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org&amp;utm_campaign=index&amp;utm_content=origi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502920"/>
            <a:ext cx="1051560" cy="384048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539496"/>
            <a:ext cx="914400" cy="25603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Aptos"/>
              </a:rPr>
              <a:t>AI26501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8813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MODERN AI  ·  ASSIGNMENT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789920" cy="65836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Feature Selection for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13397"/>
            <a:ext cx="10058400" cy="57964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800" b="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Evaluating Dimensionality Reduction, Predictive Performance
and Computational Efficiency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10698480" cy="22860"/>
          </a:xfrm>
          <a:prstGeom prst="rect">
            <a:avLst/>
          </a:prstGeom>
          <a:solidFill>
            <a:srgbClr val="344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475488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1" dirty="0">
                <a:solidFill>
                  <a:srgbClr val="60A5FA"/>
                </a:solidFill>
                <a:latin typeface="Aptos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4444089"/>
            <a:ext cx="4846320" cy="113364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r>
              <a:rPr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Aakash Arya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MT\AI\10035\26)</a:t>
            </a:r>
          </a:p>
          <a:p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Tinku Raj (MT\AI\10014\26)</a:t>
            </a:r>
          </a:p>
          <a:p>
            <a:endParaRPr lang="en-IN" dirty="0">
              <a:solidFill>
                <a:srgbClr val="CBD5E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0" y="3855753"/>
            <a:ext cx="4846320" cy="518091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lang="en-US" sz="3200" b="1" dirty="0">
                <a:solidFill>
                  <a:srgbClr val="60A5FA"/>
                </a:solidFill>
                <a:latin typeface="Aptos"/>
              </a:rPr>
              <a:t>Instructor</a:t>
            </a:r>
            <a:endParaRPr sz="3200" b="1" dirty="0">
              <a:solidFill>
                <a:srgbClr val="60A5F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5532120"/>
            <a:ext cx="4937760" cy="32004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700" b="1" dirty="0">
                <a:solidFill>
                  <a:srgbClr val="FFFFFF"/>
                </a:solidFill>
                <a:latin typeface="Aptos"/>
              </a:rPr>
              <a:t>Group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4729900"/>
            <a:ext cx="4754880" cy="3334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Shruti Garg</a:t>
            </a:r>
            <a:endParaRPr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Birla Institute of Technology, Mesra - Wikipedia">
            <a:extLst>
              <a:ext uri="{FF2B5EF4-FFF2-40B4-BE49-F238E27FC236}">
                <a16:creationId xmlns:a16="http://schemas.microsoft.com/office/drawing/2014/main" id="{1BD2C700-B83C-AA7A-83AA-972326CA8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877" y="507024"/>
            <a:ext cx="1560075" cy="15304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2015"/>
            <a:ext cx="11155680" cy="4103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Problem and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1109960" cy="228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105530"/>
            <a:ext cx="10881360" cy="3949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400" b="1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we classify accurately with fewer features?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08031"/>
            <a:ext cx="1078992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all input features are equally useful for prediction.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5074920" cy="1965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530991"/>
            <a:ext cx="457200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306324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81912" y="306324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93392" y="306324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04872" y="306324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16352" y="306324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27832" y="306324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39312" y="306324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050791" y="306324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62272" y="306324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873752" y="306324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70432" y="338328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81912" y="338328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993392" y="338328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404872" y="338328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816352" y="338328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27832" y="338328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639312" y="338328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050791" y="338328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462272" y="338328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873752" y="338328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170432" y="370332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581912" y="370332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993392" y="370332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404872" y="370332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16352" y="370332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227832" y="370332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639312" y="370332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050791" y="370332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462272" y="370332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873752" y="3703320"/>
            <a:ext cx="246888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05840" y="4005072"/>
            <a:ext cx="4572000" cy="2286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all 30 input features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2331720"/>
            <a:ext cx="5074920" cy="1965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92240" y="2530991"/>
            <a:ext cx="457200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700" b="1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FEATURES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3154680"/>
            <a:ext cx="310896" cy="21945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680960" y="3154680"/>
            <a:ext cx="310896" cy="21945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229600" y="3154680"/>
            <a:ext cx="310896" cy="21945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778240" y="3154680"/>
            <a:ext cx="310896" cy="21945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326880" y="3154680"/>
            <a:ext cx="310896" cy="21945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132320" y="3593592"/>
            <a:ext cx="310896" cy="21945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680960" y="3593592"/>
            <a:ext cx="310896" cy="21945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229600" y="3593592"/>
            <a:ext cx="310896" cy="21945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778240" y="3593592"/>
            <a:ext cx="310896" cy="21945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326880" y="3593592"/>
            <a:ext cx="310896" cy="21945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537960" y="4005072"/>
            <a:ext cx="4572000" cy="22860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Retain a smaller subset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4709160"/>
            <a:ext cx="1060704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60120" y="4967867"/>
            <a:ext cx="10149840" cy="28725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motivation: reduce dimensionality while evaluating predictive performance and computational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2015"/>
            <a:ext cx="11155680" cy="4103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 and Hypotheses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1109960" cy="228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106070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1368140"/>
            <a:ext cx="10149840" cy="610424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question: Can ANOVA F-test-based feature selection reduce input dimensionality and computational cost while maintaining classification performance?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50749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813005"/>
            <a:ext cx="4572000" cy="2718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 — 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83166"/>
            <a:ext cx="4572000" cy="54886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fewer features may reduce Logistic Regression training and inference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606040"/>
            <a:ext cx="50749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2813005"/>
            <a:ext cx="4572000" cy="2718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 — PREDICTIVE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383166"/>
            <a:ext cx="4572000" cy="54886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smaller subset may preserve Accuracy and Macro-F1 close to the baseline.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53285"/>
            <a:ext cx="10424160" cy="2718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are hypotheses to test; neither outcome is assumed in advance.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2015"/>
            <a:ext cx="11155680" cy="4103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1109960" cy="228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6400800" cy="4251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1494373"/>
            <a:ext cx="5852160" cy="34881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100" b="1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Breast Cancer Wisconsin (Diagnostic)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5715000" cy="1610697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30 numeric input features</a:t>
            </a:r>
          </a:p>
          <a:p>
            <a:pPr>
              <a:spcAft>
                <a:spcPts val="12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Binary classification: malignant vs benign</a:t>
            </a:r>
          </a:p>
          <a:p>
            <a:pPr>
              <a:spcAft>
                <a:spcPts val="12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Cell-nuclei measurement features</a:t>
            </a:r>
          </a:p>
          <a:p>
            <a:pPr>
              <a:spcAft>
                <a:spcPts val="12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Loaded using scikit-learn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load_breast_cancer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52360" y="1143000"/>
            <a:ext cx="3886200" cy="4251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26679" y="1487125"/>
            <a:ext cx="3337560" cy="2718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DATASET?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011680"/>
            <a:ext cx="3246120" cy="133369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 Manageable binary task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 30 features allow several subset sizes</a:t>
            </a:r>
          </a:p>
          <a:p>
            <a:pPr>
              <a:spcAft>
                <a:spcPts val="12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 Suitable for full vs reduced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08977"/>
            <a:ext cx="10607040" cy="194925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documentation: scikit-learn load_breast_cancer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75826"/>
            <a:ext cx="10607040" cy="164148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900" b="0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https://scikit-learn.org/stable/modules/generated/sklearn.datasets.load_breast_cancer.html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2015"/>
            <a:ext cx="11155680" cy="4103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Feature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1109960" cy="228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1051560"/>
            <a:ext cx="61290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78992" y="1170431"/>
            <a:ext cx="393192" cy="39319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" y="1254175"/>
            <a:ext cx="393192" cy="2257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10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124712"/>
            <a:ext cx="246888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223622"/>
            <a:ext cx="6858000" cy="24109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 feature matrix X and target 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892807"/>
            <a:ext cx="61290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78992" y="2011679"/>
            <a:ext cx="393192" cy="39319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8992" y="2095423"/>
            <a:ext cx="393192" cy="2257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10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1965960"/>
            <a:ext cx="246888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064870"/>
            <a:ext cx="6858000" cy="24109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 training / 20% testing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2500" y="2736671"/>
            <a:ext cx="61290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78992" y="2852928"/>
            <a:ext cx="393192" cy="39319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78992" y="2936672"/>
            <a:ext cx="393192" cy="2257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10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807208"/>
            <a:ext cx="246888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2906118"/>
            <a:ext cx="6858000" cy="24109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 scaler on training data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575304"/>
            <a:ext cx="61671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78992" y="3694176"/>
            <a:ext cx="393192" cy="39319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78992" y="3777920"/>
            <a:ext cx="393192" cy="2257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10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648456"/>
            <a:ext cx="246888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endParaRPr sz="1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31920" y="3783942"/>
            <a:ext cx="6858000" cy="24109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ANOVA F-test fitted on training data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416552"/>
            <a:ext cx="61671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78992" y="4535424"/>
            <a:ext cx="393192" cy="39319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78992" y="4619168"/>
            <a:ext cx="393192" cy="22570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300" b="1">
                <a:solidFill>
                  <a:srgbClr val="10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489704"/>
            <a:ext cx="2468880" cy="27432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and 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4588614"/>
            <a:ext cx="6858000" cy="241092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on each configuration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-1188720" y="5782618"/>
            <a:ext cx="10241280" cy="2564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500" b="1" dirty="0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Configurations: All 30 features  |  Top 20  |  Top 15  |  Top 10  |  Top 5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300D6F4-FD0C-31E4-66D5-A4DF97534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012" y="1076046"/>
            <a:ext cx="4628993" cy="48534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2015"/>
            <a:ext cx="11155680" cy="4103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and 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1109960" cy="228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097279"/>
            <a:ext cx="5074920" cy="526843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1372825"/>
            <a:ext cx="4480560" cy="2718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480560" cy="4514056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Dataset: Breast Cancer Wisconsin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Classifier: Logistic Regression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ANOVA F-test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80:20 train/test split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Scaling and selection fitted on training data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train/test split across configurations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ptos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Stratified 5-Fold Cross-    Validation (10 repeats</a:t>
            </a:r>
            <a:r>
              <a:rPr lang="en-IN" sz="16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IN" sz="20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 fold evaluations per configuration)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ptos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50749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37960" y="1372825"/>
            <a:ext cx="4480560" cy="2718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REQUIRED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4480560" cy="2308324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Number of features</a:t>
            </a:r>
          </a:p>
          <a:p>
            <a:pPr>
              <a:spcAft>
                <a:spcPts val="13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Accuracy</a:t>
            </a:r>
          </a:p>
          <a:p>
            <a:pPr>
              <a:spcAft>
                <a:spcPts val="13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Macro-F1</a:t>
            </a:r>
          </a:p>
          <a:p>
            <a:pPr>
              <a:spcAft>
                <a:spcPts val="13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Training time</a:t>
            </a:r>
          </a:p>
          <a:p>
            <a:pPr>
              <a:spcAft>
                <a:spcPts val="1300"/>
              </a:spcAft>
              <a:defRPr sz="1700">
                <a:solidFill>
                  <a:srgbClr val="CBD5E1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Inference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2015"/>
            <a:ext cx="11155680" cy="4103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Comparative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1109960" cy="228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1920240" cy="4754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1236112"/>
            <a:ext cx="1865376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0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097280"/>
            <a:ext cx="1143000" cy="4754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42032" y="1236112"/>
            <a:ext cx="1088136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0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097280"/>
            <a:ext cx="1508760" cy="4754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85032" y="1236112"/>
            <a:ext cx="1453895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0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097280"/>
            <a:ext cx="1645920" cy="4754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93792" y="1236112"/>
            <a:ext cx="1591056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0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Macro-F1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1097280"/>
            <a:ext cx="1828800" cy="4754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39712" y="1236112"/>
            <a:ext cx="1773936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0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(s)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1097280"/>
            <a:ext cx="1828800" cy="4754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68511" y="1236112"/>
            <a:ext cx="1773936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1">
                <a:solidFill>
                  <a:srgbClr val="1018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 (s)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1600200"/>
            <a:ext cx="192024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2648" y="1743604"/>
            <a:ext cx="188366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features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1600200"/>
            <a:ext cx="114300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32888" y="1743604"/>
            <a:ext cx="110642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1600200"/>
            <a:ext cx="150876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75887" y="1743604"/>
            <a:ext cx="147218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0.9825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166360" y="1600200"/>
            <a:ext cx="164592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84648" y="1743604"/>
            <a:ext cx="160934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0.9812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812280" y="1600200"/>
            <a:ext cx="182880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30568" y="1743604"/>
            <a:ext cx="179222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0.010991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641080" y="1600200"/>
            <a:ext cx="182880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59367" y="1743604"/>
            <a:ext cx="179222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0.000199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4360" y="2121408"/>
            <a:ext cx="1920240" cy="484632"/>
          </a:xfrm>
          <a:prstGeom prst="rect">
            <a:avLst/>
          </a:prstGeom>
          <a:solidFill>
            <a:srgbClr val="182233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2648" y="2264812"/>
            <a:ext cx="188366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2121408"/>
            <a:ext cx="1143000" cy="484632"/>
          </a:xfrm>
          <a:prstGeom prst="rect">
            <a:avLst/>
          </a:prstGeom>
          <a:solidFill>
            <a:srgbClr val="182233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532888" y="2264812"/>
            <a:ext cx="110642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2121408"/>
            <a:ext cx="1508760" cy="484632"/>
          </a:xfrm>
          <a:prstGeom prst="rect">
            <a:avLst/>
          </a:prstGeom>
          <a:solidFill>
            <a:srgbClr val="182233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675887" y="2264812"/>
            <a:ext cx="147218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0.9737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166360" y="2121408"/>
            <a:ext cx="1645920" cy="484632"/>
          </a:xfrm>
          <a:prstGeom prst="rect">
            <a:avLst/>
          </a:prstGeom>
          <a:solidFill>
            <a:srgbClr val="182233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184648" y="2264812"/>
            <a:ext cx="160934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0.9719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812280" y="2121408"/>
            <a:ext cx="1828800" cy="484632"/>
          </a:xfrm>
          <a:prstGeom prst="rect">
            <a:avLst/>
          </a:prstGeom>
          <a:solidFill>
            <a:srgbClr val="182233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30568" y="2264812"/>
            <a:ext cx="179222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0.009217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641080" y="2121408"/>
            <a:ext cx="1828800" cy="484632"/>
          </a:xfrm>
          <a:prstGeom prst="rect">
            <a:avLst/>
          </a:prstGeom>
          <a:solidFill>
            <a:srgbClr val="182233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659367" y="2264812"/>
            <a:ext cx="179222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0.000476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94360" y="2642615"/>
            <a:ext cx="192024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2648" y="2786019"/>
            <a:ext cx="188366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4600" y="2642615"/>
            <a:ext cx="114300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532888" y="2786019"/>
            <a:ext cx="110642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0" y="2642615"/>
            <a:ext cx="150876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675887" y="2786019"/>
            <a:ext cx="147218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0.9649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166360" y="2642615"/>
            <a:ext cx="164592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184648" y="2786019"/>
            <a:ext cx="160934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0.9623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812280" y="2642615"/>
            <a:ext cx="182880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830568" y="2786019"/>
            <a:ext cx="179222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0.010073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641080" y="2642615"/>
            <a:ext cx="182880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659367" y="2786019"/>
            <a:ext cx="179222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0.000390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94360" y="3163824"/>
            <a:ext cx="1920240" cy="484632"/>
          </a:xfrm>
          <a:prstGeom prst="rect">
            <a:avLst/>
          </a:prstGeom>
          <a:solidFill>
            <a:srgbClr val="182233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12648" y="3307228"/>
            <a:ext cx="188366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14600" y="3163824"/>
            <a:ext cx="1143000" cy="484632"/>
          </a:xfrm>
          <a:prstGeom prst="rect">
            <a:avLst/>
          </a:prstGeom>
          <a:solidFill>
            <a:srgbClr val="182233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532888" y="3307228"/>
            <a:ext cx="110642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0" y="3163824"/>
            <a:ext cx="1508760" cy="484632"/>
          </a:xfrm>
          <a:prstGeom prst="rect">
            <a:avLst/>
          </a:prstGeom>
          <a:solidFill>
            <a:srgbClr val="182233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675887" y="3307228"/>
            <a:ext cx="147218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0.9474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166360" y="3163824"/>
            <a:ext cx="1645920" cy="484632"/>
          </a:xfrm>
          <a:prstGeom prst="rect">
            <a:avLst/>
          </a:prstGeom>
          <a:solidFill>
            <a:srgbClr val="182233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184648" y="3307228"/>
            <a:ext cx="160934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0.9440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812280" y="3163824"/>
            <a:ext cx="1828800" cy="484632"/>
          </a:xfrm>
          <a:prstGeom prst="rect">
            <a:avLst/>
          </a:prstGeom>
          <a:solidFill>
            <a:srgbClr val="182233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830568" y="3307228"/>
            <a:ext cx="179222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0.010555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641080" y="3163824"/>
            <a:ext cx="1828800" cy="484632"/>
          </a:xfrm>
          <a:prstGeom prst="rect">
            <a:avLst/>
          </a:prstGeom>
          <a:solidFill>
            <a:srgbClr val="182233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659367" y="3307228"/>
            <a:ext cx="179222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0.000414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94360" y="3685031"/>
            <a:ext cx="192024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12648" y="3828435"/>
            <a:ext cx="188366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14600" y="3685031"/>
            <a:ext cx="114300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532888" y="3828435"/>
            <a:ext cx="110642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1000" b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0" y="3685031"/>
            <a:ext cx="150876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675887" y="3828435"/>
            <a:ext cx="147218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0.9386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5166360" y="3685031"/>
            <a:ext cx="164592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184648" y="3828435"/>
            <a:ext cx="160934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0.9349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812280" y="3685031"/>
            <a:ext cx="182880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830568" y="3828435"/>
            <a:ext cx="179222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0.009188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8641080" y="3685031"/>
            <a:ext cx="1828800" cy="484632"/>
          </a:xfrm>
          <a:prstGeom prst="rect">
            <a:avLst/>
          </a:prstGeom>
          <a:solidFill>
            <a:srgbClr val="1E293B"/>
          </a:solidFill>
          <a:ln w="12700">
            <a:solidFill>
              <a:srgbClr val="344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659367" y="3828435"/>
            <a:ext cx="1792224" cy="179536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lang="en-IN" sz="1000" dirty="0">
                <a:solidFill>
                  <a:schemeClr val="bg1"/>
                </a:solidFill>
              </a:rPr>
              <a:t>0.000359</a:t>
            </a:r>
            <a:endParaRPr sz="1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621792" y="4288135"/>
            <a:ext cx="8699189" cy="518091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726948" y="4376927"/>
            <a:ext cx="8594033" cy="394980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inference times are median measurements over 200 repetitions after warm-up. Inference time excludes the feature-selection transformation.</a:t>
            </a:r>
            <a:endParaRPr sz="12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8905AC57-4ED5-0F2A-B7BF-52A19C12C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81" y="4924698"/>
            <a:ext cx="10849356" cy="16812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2015"/>
            <a:ext cx="11155680" cy="4103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Conclusion,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1109960" cy="228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074920" cy="4387895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1372825"/>
            <a:ext cx="4480560" cy="2718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FROM THIS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480560" cy="2643672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30 features achieved the highest test Accuracy and Macro-F1.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Top-5 reduced the input feature count by 83.3%.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Reduced-feature models showed lower predictive performance in the test split.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efficiency benefit depends on whether feature-selection overhead is included.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97279"/>
            <a:ext cx="5074920" cy="4724401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37960" y="1372825"/>
            <a:ext cx="4480560" cy="2718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28800"/>
            <a:ext cx="4480560" cy="3751668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one dataset and one classifier were evaluated.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ANOVA F-test ranks features individually and does not eliminate redundant features.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Timing measurements are hardware- and system-dependent.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dimensionality does not guarantee faster end-to-end inference.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may vary across datasets and train/test splits.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2015"/>
            <a:ext cx="11155680" cy="4103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and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786384"/>
            <a:ext cx="11109960" cy="228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607040" cy="3291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1327105"/>
            <a:ext cx="9875520" cy="271869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9875520" cy="2185214"/>
          </a:xfrm>
          <a:prstGeom prst="rect">
            <a:avLst/>
          </a:prstGeom>
          <a:noFill/>
        </p:spPr>
        <p:txBody>
          <a:bodyPr wrap="square" lIns="50800" tIns="50800" rIns="50800" bIns="508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1. scikit-learn: Breast Cancer Wisconsin (Diagnostic) dataset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 scikit-learn.org/stable/modules/generated/sklearn.datasets.load_breast_cancer.html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2. scikit-learn: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selection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 scikit-learn.org/stable/modules/generated/sklearn.feature_selection.SelectKBest.html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3. scikit-learn: ANOVA F-value (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f_classif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 scikit-learn.org/stable/modules/generated/sklearn.feature_selection.f_classif.html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4. scikit-learn: LogisticRegression</a:t>
            </a:r>
          </a:p>
          <a:p>
            <a:pPr>
              <a:spcAft>
                <a:spcPts val="400"/>
              </a:spcAft>
              <a:defRPr sz="1100">
                <a:solidFill>
                  <a:srgbClr val="CBD5E1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   scikit-learn.org/stable/modules/generated/sklearn.linear_model.LogisticRegression.html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85543"/>
            <a:ext cx="10424160" cy="487313"/>
          </a:xfrm>
          <a:prstGeom prst="rect">
            <a:avLst/>
          </a:prstGeom>
          <a:noFill/>
        </p:spPr>
        <p:txBody>
          <a:bodyPr wrap="square" lIns="12700" tIns="12700" rIns="12700" bIns="12700" anchor="ctr">
            <a:spAutoFit/>
          </a:bodyPr>
          <a:lstStyle/>
          <a:p>
            <a:pPr algn="ctr"/>
            <a:r>
              <a:rPr sz="3000" b="1" dirty="0">
                <a:solidFill>
                  <a:srgbClr val="60A5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688</Words>
  <Application>Microsoft Office PowerPoint</Application>
  <PresentationFormat>Widescreen</PresentationFormat>
  <Paragraphs>131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Aakash Arya</dc:creator>
  <cp:keywords/>
  <dc:description>generated using python-pptx</dc:description>
  <cp:lastModifiedBy>Aakash Arya</cp:lastModifiedBy>
  <cp:revision>12</cp:revision>
  <dcterms:created xsi:type="dcterms:W3CDTF">2013-01-27T09:14:16Z</dcterms:created>
  <dcterms:modified xsi:type="dcterms:W3CDTF">2026-10-22T13:50:30Z</dcterms:modified>
  <cp:category/>
</cp:coreProperties>
</file>